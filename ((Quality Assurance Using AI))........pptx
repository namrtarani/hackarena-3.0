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84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76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mrtarani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30AD28-1745-E471-AF85-AF2673476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079" y="1726163"/>
            <a:ext cx="11049878" cy="4668087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Problem Statement 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Quality Assurance using AI</a:t>
            </a:r>
          </a:p>
          <a:p>
            <a:pPr algn="l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NAME – LOGIC LORDS</a:t>
            </a:r>
          </a:p>
          <a:p>
            <a:pPr algn="l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Member – Namrta Rani</a:t>
            </a:r>
          </a:p>
          <a:p>
            <a:pPr algn="l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Yamini Penmetsa</a:t>
            </a:r>
          </a:p>
          <a:p>
            <a:pPr algn="l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Bhagyashree Munde</a:t>
            </a:r>
          </a:p>
          <a:p>
            <a:pPr algn="l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GitHub Link -   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https://github.com/Namrtarani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Demo Link - 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https://drive.google.com/file/d/1zs6a-BbUlma2XFQ6zuF6yTzKXjWiECQi/view?usp=drivesdk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B9773-DF6F-51E3-5B91-8EA6B2BF3403}"/>
              </a:ext>
            </a:extLst>
          </p:cNvPr>
          <p:cNvSpPr txBox="1"/>
          <p:nvPr/>
        </p:nvSpPr>
        <p:spPr>
          <a:xfrm>
            <a:off x="3047223" y="463750"/>
            <a:ext cx="60975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u="sng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  <p:extLst>
      <p:ext uri="{BB962C8B-B14F-4D97-AF65-F5344CB8AC3E}">
        <p14:creationId xmlns:p14="http://schemas.microsoft.com/office/powerpoint/2010/main" val="325998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0:0/7fb4931c-11f9-4dce-91ba-b3fa8435c67b/2020156680394362880:2150a47632863c57f061c42257e5f0fa:0:0_page_1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62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6325" y="1390650"/>
            <a:ext cx="11032778" cy="12445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525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Assurance Using AI: Automated
Detection of Missing Line Features</a:t>
            </a:r>
            <a:endParaRPr lang="en-US" sz="3525" dirty="0"/>
          </a:p>
        </p:txBody>
      </p:sp>
      <p:sp>
        <p:nvSpPr>
          <p:cNvPr id="4" name="Text 1"/>
          <p:cNvSpPr/>
          <p:nvPr/>
        </p:nvSpPr>
        <p:spPr>
          <a:xfrm>
            <a:off x="1076325" y="3000375"/>
            <a:ext cx="5961608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75"/>
              </a:lnSpc>
              <a:buNone/>
            </a:pPr>
            <a:r>
              <a:rPr lang="en-US" sz="2250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Screenshot-Based Anomaly Detection
for Cartographic Applications</a:t>
            </a:r>
            <a:endParaRPr lang="en-US" sz="22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297C5B-04BB-9678-27AB-973C79FF4D95}"/>
              </a:ext>
            </a:extLst>
          </p:cNvPr>
          <p:cNvSpPr txBox="1"/>
          <p:nvPr/>
        </p:nvSpPr>
        <p:spPr>
          <a:xfrm>
            <a:off x="9300288" y="0"/>
            <a:ext cx="3622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0:0/0bf04b43-bafd-4041-a63f-7efbfe042ab5/2020156680394362880:2150a47632863c57f061c42257e5f0fa:0:0_page_2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2583" y="666750"/>
            <a:ext cx="9681210" cy="5271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151"/>
              </a:lnSpc>
              <a:buNone/>
            </a:pPr>
            <a:r>
              <a:rPr lang="en-US" sz="3075" b="1" dirty="0">
                <a:solidFill>
                  <a:srgbClr val="373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Understanding &amp; Scope</a:t>
            </a:r>
            <a:endParaRPr lang="en-US" sz="3075" dirty="0"/>
          </a:p>
        </p:txBody>
      </p:sp>
      <p:sp>
        <p:nvSpPr>
          <p:cNvPr id="4" name="Text 1"/>
          <p:cNvSpPr/>
          <p:nvPr/>
        </p:nvSpPr>
        <p:spPr>
          <a:xfrm>
            <a:off x="3276600" y="5257800"/>
            <a:ext cx="6234113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Transforming subjective visual inspection
into objective, automated quality assurance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62025" y="1828800"/>
            <a:ext cx="5871448" cy="3658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250" dirty="0">
                <a:solidFill>
                  <a:srgbClr val="373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Manual QA Challenges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448425" y="1828800"/>
            <a:ext cx="4035862" cy="3658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250" dirty="0">
                <a:solidFill>
                  <a:srgbClr val="373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Focused Solution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19175" y="2419350"/>
            <a:ext cx="5645170" cy="3309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06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Time-consuming visual inspection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019175" y="3038475"/>
            <a:ext cx="5532120" cy="3309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06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Highly subjective and error-prone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1019175" y="3667125"/>
            <a:ext cx="6500098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Unsuitable for scaling with data volume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19175" y="4295775"/>
            <a:ext cx="6437233" cy="3309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06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Significant bottleneck in release cycles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6505575" y="2419350"/>
            <a:ext cx="5406390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Target: Missing line features only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05575" y="3038475"/>
            <a:ext cx="6047542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Method: Screenshot-based detection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05575" y="3667125"/>
            <a:ext cx="5909310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Impact: Critical map legibility issues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05575" y="4295775"/>
            <a:ext cx="6324183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Approach: AI-powered visual validation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C20494-C8BC-8A56-E67D-EB2B933456C2}"/>
              </a:ext>
            </a:extLst>
          </p:cNvPr>
          <p:cNvSpPr txBox="1"/>
          <p:nvPr/>
        </p:nvSpPr>
        <p:spPr>
          <a:xfrm>
            <a:off x="9671418" y="31849"/>
            <a:ext cx="2937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0:0/1c1cac25-88c3-4942-ab3f-61640c18f721/2020156680394362880:2150a47632863c57f061c42257e5f0fa:0:0_page_3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98" y="2331690"/>
            <a:ext cx="11301859" cy="1721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06288" y="742950"/>
            <a:ext cx="8386048" cy="5761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36"/>
              </a:lnSpc>
              <a:buNone/>
            </a:pPr>
            <a:r>
              <a:rPr lang="en-US" sz="3150" b="1" dirty="0">
                <a:solidFill>
                  <a:srgbClr val="353535"/>
                </a:solidFill>
                <a:latin typeface="Noto Sans Sans CN" pitchFamily="34" charset="0"/>
                <a:ea typeface="Noto Sans Sans CN" pitchFamily="34" charset="-122"/>
                <a:cs typeface="Noto Sans Sans CN" pitchFamily="34" charset="-120"/>
              </a:rPr>
              <a:t>Solution Approach &amp; Design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895350" y="4581525"/>
            <a:ext cx="10540305" cy="905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564"/>
              </a:lnSpc>
              <a:buNone/>
            </a:pPr>
            <a:r>
              <a:rPr lang="en-US" sz="2475" dirty="0">
                <a:solidFill>
                  <a:srgbClr val="000000"/>
                </a:solidFill>
                <a:latin typeface="Noto Sans Sans CN" pitchFamily="34" charset="0"/>
                <a:ea typeface="Noto Sans Sans CN" pitchFamily="34" charset="-122"/>
                <a:cs typeface="Noto Sans Sans CN" pitchFamily="34" charset="-120"/>
              </a:rPr>
              <a:t>• Siamese neural network architecture for visual comparison
• Paired dataset: correct examples vs. missing line features</a:t>
            </a:r>
            <a:endParaRPr lang="en-US" sz="2475" dirty="0"/>
          </a:p>
        </p:txBody>
      </p:sp>
      <p:sp>
        <p:nvSpPr>
          <p:cNvPr id="6" name="Text 2"/>
          <p:cNvSpPr/>
          <p:nvPr/>
        </p:nvSpPr>
        <p:spPr>
          <a:xfrm>
            <a:off x="7296150" y="6000750"/>
            <a:ext cx="5050036" cy="510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ans CN" pitchFamily="34" charset="0"/>
                <a:ea typeface="Noto Sans Sans CN" pitchFamily="34" charset="-122"/>
                <a:cs typeface="Noto Sans Sans CN" pitchFamily="34" charset="-120"/>
              </a:rPr>
              <a:t>Transforms subjective visual inspection
into quantitative similarity measurement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B7CCC-7B39-19FC-2F22-D025F6FDE217}"/>
              </a:ext>
            </a:extLst>
          </p:cNvPr>
          <p:cNvSpPr txBox="1"/>
          <p:nvPr/>
        </p:nvSpPr>
        <p:spPr>
          <a:xfrm>
            <a:off x="9821168" y="51971"/>
            <a:ext cx="2904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0:0/6d0b715d-c04c-4609-8a0d-84498814764c/2020156680394362880:2150a47632863c57f061c42257e5f0fa:0:0_page_4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494" y="1131540"/>
            <a:ext cx="7620000" cy="54246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49997" y="400050"/>
            <a:ext cx="6776740" cy="4510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552"/>
              </a:lnSpc>
              <a:buNone/>
            </a:pPr>
            <a:r>
              <a:rPr lang="en-US" sz="2775" b="1" dirty="0">
                <a:solidFill>
                  <a:srgbClr val="3535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Implementation</a:t>
            </a:r>
            <a:endParaRPr lang="en-US" sz="277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7673A-293D-4804-DDB7-0A08EBDC9D1B}"/>
              </a:ext>
            </a:extLst>
          </p:cNvPr>
          <p:cNvSpPr txBox="1"/>
          <p:nvPr/>
        </p:nvSpPr>
        <p:spPr>
          <a:xfrm>
            <a:off x="9726737" y="11772"/>
            <a:ext cx="2801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0:0/af873d7d-8e52-4bba-af31-c78ea088e84f/2020156680394362880:2150a47632863c57f061c42257e5f0fa:0:0_page_5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996" y="3710136"/>
            <a:ext cx="3669655" cy="21053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992" y="1735038"/>
            <a:ext cx="4157365" cy="17006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949997" y="533400"/>
            <a:ext cx="6776740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Effectiveness</a:t>
            </a:r>
            <a:endParaRPr lang="en-US" sz="3375" dirty="0"/>
          </a:p>
        </p:txBody>
      </p:sp>
      <p:sp>
        <p:nvSpPr>
          <p:cNvPr id="6" name="Text 1"/>
          <p:cNvSpPr/>
          <p:nvPr/>
        </p:nvSpPr>
        <p:spPr>
          <a:xfrm>
            <a:off x="1381125" y="1524000"/>
            <a:ext cx="3782318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 Rate: 95%
(19 out of 20 test cases)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1381125" y="2486025"/>
            <a:ext cx="4138613" cy="7923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Positive Rate: &lt;5%
(1 out of 20 test cases)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8696325" y="4705350"/>
            <a:ext cx="3530798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reliably identifies
target errors with precise
localization</a:t>
            </a:r>
            <a:endParaRPr lang="en-US" sz="1875" dirty="0"/>
          </a:p>
        </p:txBody>
      </p:sp>
      <p:sp>
        <p:nvSpPr>
          <p:cNvPr id="9" name="Text 4"/>
          <p:cNvSpPr/>
          <p:nvPr/>
        </p:nvSpPr>
        <p:spPr>
          <a:xfrm>
            <a:off x="7058025" y="1476375"/>
            <a:ext cx="3998178" cy="25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Case Results Summary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248150" y="5934075"/>
            <a:ext cx="4170015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Red bounding boxes accurately locate
missing features for immediate review</a:t>
            </a: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0419E3-9B62-A3F2-6F1F-8DD849CE8FF7}"/>
              </a:ext>
            </a:extLst>
          </p:cNvPr>
          <p:cNvSpPr txBox="1"/>
          <p:nvPr/>
        </p:nvSpPr>
        <p:spPr>
          <a:xfrm flipH="1">
            <a:off x="10609362" y="22056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1:0/70dc9c9a-6909-487c-9c3c-6de14f2c80c8/2020156680394362880:2150a47632863c57f061c42257e5f0fa:1:0_page_6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784" y="5980063"/>
            <a:ext cx="767953" cy="7200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04189" y="638175"/>
            <a:ext cx="8411230" cy="4881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844"/>
              </a:lnSpc>
              <a:buNone/>
            </a:pPr>
            <a:r>
              <a:rPr lang="en-US" sz="3075" b="1" dirty="0">
                <a:solidFill>
                  <a:srgbClr val="373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&amp; Practical Value</a:t>
            </a:r>
            <a:endParaRPr lang="en-US" sz="3075" dirty="0"/>
          </a:p>
        </p:txBody>
      </p:sp>
      <p:sp>
        <p:nvSpPr>
          <p:cNvPr id="5" name="Text 1"/>
          <p:cNvSpPr/>
          <p:nvPr/>
        </p:nvSpPr>
        <p:spPr>
          <a:xfrm>
            <a:off x="3048000" y="5162550"/>
            <a:ext cx="6716018" cy="7575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82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Scalable Quality Assurance: Consistent
performance regardless of data volume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019175" y="1962150"/>
            <a:ext cx="2828925" cy="361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847"/>
              </a:lnSpc>
              <a:buNone/>
            </a:pPr>
            <a:r>
              <a:rPr lang="en-US" sz="1950" b="1" dirty="0">
                <a:solidFill>
                  <a:srgbClr val="373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6991350" y="1962150"/>
            <a:ext cx="3935313" cy="3754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957"/>
              </a:lnSpc>
              <a:buNone/>
            </a:pPr>
            <a:r>
              <a:rPr lang="en-US" sz="2025" b="1" dirty="0">
                <a:solidFill>
                  <a:srgbClr val="373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Benefits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1076325" y="2514600"/>
            <a:ext cx="5343525" cy="13329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Paradigm shift: Manual → Automated QA
• Computer vision for cartographic validation
• Objective visual inspection at machine
speed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991350" y="2514600"/>
            <a:ext cx="4536728" cy="13329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Reduces QA time by ~80%
• Seamless CI/nightly build integration
• Focus human expertise on flagged
issues only</a:t>
            </a:r>
            <a:endParaRPr lang="en-US" sz="16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CE1D1-7CE2-74EE-5395-20BB55F91110}"/>
              </a:ext>
            </a:extLst>
          </p:cNvPr>
          <p:cNvSpPr txBox="1"/>
          <p:nvPr/>
        </p:nvSpPr>
        <p:spPr>
          <a:xfrm>
            <a:off x="9764018" y="50671"/>
            <a:ext cx="2596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1:0/51336ce8-95e1-4873-8f39-8e2b917f33e5/2020156680394362880:2150a47632863c57f061c42257e5f0fa:1:0_page_7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8309" y="638175"/>
            <a:ext cx="11177290" cy="523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125"/>
              </a:lnSpc>
              <a:buNone/>
            </a:pPr>
            <a:r>
              <a:rPr lang="en-US" sz="3300" b="1" dirty="0">
                <a:solidFill>
                  <a:srgbClr val="4040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Limitations &amp; Future Improvements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076325" y="1952625"/>
            <a:ext cx="4765060" cy="4243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41"/>
              </a:lnSpc>
              <a:buNone/>
            </a:pPr>
            <a:r>
              <a:rPr lang="en-US" sz="2550" b="1" dirty="0">
                <a:solidFill>
                  <a:srgbClr val="81C78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Limitations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686550" y="1952625"/>
            <a:ext cx="5569803" cy="4366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439"/>
              </a:lnSpc>
              <a:buNone/>
            </a:pPr>
            <a:r>
              <a:rPr lang="en-US" sz="2625" b="1" dirty="0">
                <a:solidFill>
                  <a:srgbClr val="FF8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Enhancements</a:t>
            </a:r>
            <a:endParaRPr lang="en-US" sz="2625" dirty="0"/>
          </a:p>
        </p:txBody>
      </p:sp>
      <p:sp>
        <p:nvSpPr>
          <p:cNvPr id="6" name="Text 3"/>
          <p:cNvSpPr/>
          <p:nvPr/>
        </p:nvSpPr>
        <p:spPr>
          <a:xfrm>
            <a:off x="1447800" y="2619375"/>
            <a:ext cx="4128046" cy="2651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10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only missing line
features
Cannot identify styling or
topological errors
Challenges with complex,
high-density maps
Requires human validation
for flagged cases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6934200" y="2619375"/>
            <a:ext cx="4421386" cy="24805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90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Multi-error detection
capabilities
Continuous learning
feedback loops
User-friendly web interface
Enhanced accuracy for
complex layouts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863635" y="6353175"/>
            <a:ext cx="11353383" cy="2650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87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from specialized detection to comprehensive visual QA automation</a:t>
            </a:r>
            <a:endParaRPr lang="en-US" sz="17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01861-52CC-0837-81FD-DB6021050723}"/>
              </a:ext>
            </a:extLst>
          </p:cNvPr>
          <p:cNvSpPr txBox="1"/>
          <p:nvPr/>
        </p:nvSpPr>
        <p:spPr>
          <a:xfrm>
            <a:off x="10100835" y="77257"/>
            <a:ext cx="2355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20156680394362880:2150a47632863c57f061c42257e5f0fa:1:0/d45bfb19-f3aa-425d-983a-2876cea5fcfa/2020156680394362880:2150a47632863c57f061c42257e5f0fa:1:0_page_8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9618" y="638175"/>
            <a:ext cx="5079385" cy="5560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379"/>
              </a:lnSpc>
              <a:buNone/>
            </a:pPr>
            <a:r>
              <a:rPr lang="en-US" sz="3150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Declaration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3048000" y="1905000"/>
            <a:ext cx="6684615" cy="7679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Mission Accomplished: AI-Powered QA
System Successfully Delivered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2057400" y="3276600"/>
            <a:ext cx="3771900" cy="5563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Single Error Focus: Missing
line features detection</a:t>
            </a:r>
            <a:endParaRPr lang="en-US" sz="1725" dirty="0"/>
          </a:p>
        </p:txBody>
      </p:sp>
      <p:sp>
        <p:nvSpPr>
          <p:cNvPr id="6" name="Text 3"/>
          <p:cNvSpPr/>
          <p:nvPr/>
        </p:nvSpPr>
        <p:spPr>
          <a:xfrm>
            <a:off x="6810375" y="3276600"/>
            <a:ext cx="4211836" cy="508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Clear Output: Visual localization
with bounding boxes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2057400" y="4714875"/>
            <a:ext cx="3918496" cy="532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9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Complete: Validated
on provided dataset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810375" y="4714875"/>
            <a:ext cx="3541365" cy="508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Real-World Ready: 95%
detection rate on test cases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1615738" y="6153150"/>
            <a:ext cx="9643348" cy="3024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8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for integration into cartographic software QA pipeline</a:t>
            </a:r>
            <a:endParaRPr lang="en-US" sz="187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820DA4-E4B0-6E5B-48C5-556E51355381}"/>
              </a:ext>
            </a:extLst>
          </p:cNvPr>
          <p:cNvSpPr txBox="1"/>
          <p:nvPr/>
        </p:nvSpPr>
        <p:spPr>
          <a:xfrm>
            <a:off x="9770743" y="91802"/>
            <a:ext cx="2502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E9F5-14F2-52B0-D42A-71E939906A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B96E9-D624-42E8-0BCD-4F52741AE4A8}"/>
              </a:ext>
            </a:extLst>
          </p:cNvPr>
          <p:cNvSpPr txBox="1"/>
          <p:nvPr/>
        </p:nvSpPr>
        <p:spPr>
          <a:xfrm>
            <a:off x="9384264" y="124016"/>
            <a:ext cx="348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6">
                    <a:lumMod val="50000"/>
                  </a:schemeClr>
                </a:solidFill>
              </a:rPr>
              <a:t>HackArena3.0</a:t>
            </a:r>
          </a:p>
        </p:txBody>
      </p:sp>
    </p:spTree>
    <p:extLst>
      <p:ext uri="{BB962C8B-B14F-4D97-AF65-F5344CB8AC3E}">
        <p14:creationId xmlns:p14="http://schemas.microsoft.com/office/powerpoint/2010/main" val="193237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450</Words>
  <Application>Microsoft Office PowerPoint</Application>
  <PresentationFormat>Widescreen</PresentationFormat>
  <Paragraphs>69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Inter</vt:lpstr>
      <vt:lpstr>Montserrat</vt:lpstr>
      <vt:lpstr>Noto Sans KR</vt:lpstr>
      <vt:lpstr>Noto Sans Sans CN</vt:lpstr>
      <vt:lpstr>Poppins</vt:lpstr>
      <vt:lpstr>Roboto-Regular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Namrata Rani</cp:lastModifiedBy>
  <cp:revision>3</cp:revision>
  <dcterms:created xsi:type="dcterms:W3CDTF">2026-02-07T15:28:40Z</dcterms:created>
  <dcterms:modified xsi:type="dcterms:W3CDTF">2026-02-07T17:53:04Z</dcterms:modified>
</cp:coreProperties>
</file>